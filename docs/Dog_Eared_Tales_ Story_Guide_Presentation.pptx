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embeddedFontLst>
    <p:embeddedFont>
      <p:font typeface="Fraunces" pitchFamily="18" charset="0"/>
      <p:regular r:id="rId16"/>
      <p:bold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The greatest books ever written are already free. They've lasted hundreds of years because they tell the truth about being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[0:10–0:22] So why aren't we reading them? Look around any subway car: a phone in every hand. The classics are one tap away, and almost nobody opens them. I want to help people get the reading habit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[0:22–0:42] This is Dog-Eared Tales. A free reading app with 185 short classics, made for phones and commutes. Tap a mood, and it picks a story you can finish before your stop. Swipe to turn the page. Dog-ear it to keep it. No account, no ads, and your reading stays on your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[0:42–0:52] But choosing a classic is hard. Most descriptions give away the ending, and parents can't tell what's inside a story before handing it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[0:52–1:10] So I built Story Guide, an open-source tool powered by Gemma 4. For the hook and blurb, Gemma only reads the first third of the story, so it can't spoil a twist it has never seen. Then it reads the whole story to rate the content and suggest an age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[1:10–1:32] Here it is on Poe's "The Masque of the Red Death". Gemma's blurb sets the scene without the ending, right beside the human-curated version. It rates violence, death, frightening scenes, sexual themes, period language and animal harm, says why, and suggests 13 and up, with a reason a parent can actually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[1:32–1:48] And it isn't limited to the app. Story Guide searches Project Gutenberg and Wikisource, filters by length, so you can find something short enough for a commute, and describes any public-domain story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[1:48–2:00] Everything is open: an open model, MIT-licensed code, and public-domain texts. It even respects each library's terms. If a library asks AI tools not to fetch its books, we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[2:00–2:10] Dog-Eared Tales and Story Guide. One short story at a time, back to the reading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D1D1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2366963"/>
            <a:ext cx="10566400" cy="1005840"/>
          </a:xfrm>
          <a:prstGeom prst="rect">
            <a:avLst/>
          </a:prstGeom>
          <a:noFill/>
          <a:ln/>
        </p:spPr>
        <p:txBody>
          <a:bodyPr wrap="square" lIns="0" tIns="0" rIns="0" bIns="0" rtlCol="0" anchor="t"/>
          <a:lstStyle>
            <a:lvl1pPr algn="l" indent="0" marL="0">
              <a:lnSpc>
                <a:spcPct val="115000"/>
              </a:lnSpc>
              <a:buNone/>
              <a:defRPr lang="en-US" sz="4800" dirty="0">
                <a:solidFill>
                  <a:srgbClr val="F5EFE4"/>
                </a:solidFill>
                <a:latin typeface="Fraunces" pitchFamily="34" charset="0"/>
                <a:ea typeface="Fraunces" pitchFamily="34" charset="-122"/>
                <a:cs typeface="Fraunces" pitchFamily="34" charset="-120"/>
              </a:defRPr>
            </a:lvl1pPr>
          </a:lstStyle>
          <a:p>
            <a:pPr algn="l" indent="0" marL="0">
              <a:lnSpc>
                <a:spcPct val="115000"/>
              </a:lnSpc>
              <a:buNone/>
            </a:pPr>
            <a:endParaRPr lang="en-US" sz="4800" dirty="0"/>
          </a:p>
        </p:txBody>
      </p:sp>
      <p:sp>
        <p:nvSpPr>
          <p:cNvPr id="3" name="Text Placeholder 2"/>
          <p:cNvSpPr/>
          <p:nvPr>
            <p:ph idx="101" type="body"/>
          </p:nvPr>
        </p:nvSpPr>
        <p:spPr>
          <a:xfrm>
            <a:off x="812800" y="3677603"/>
            <a:ext cx="10566400" cy="2367597"/>
          </a:xfrm>
          <a:prstGeom prst="rect">
            <a:avLst/>
          </a:prstGeom>
          <a:noFill/>
          <a:ln/>
        </p:spPr>
        <p:txBody>
          <a:bodyPr wrap="square" lIns="0" tIns="0" rIns="0" bIns="0" rtlCol="0" anchor="t"/>
          <a:lstStyle>
            <a:lvl1pPr algn="l" indent="0" marL="0">
              <a:lnSpc>
                <a:spcPct val="140000"/>
              </a:lnSpc>
              <a:buNone/>
              <a:defRPr lang="en-US" sz="1600" dirty="0">
                <a:solidFill>
                  <a:srgbClr val="E0A77F"/>
                </a:solidFill>
                <a:latin typeface="Source Sans 3" pitchFamily="34" charset="0"/>
                <a:ea typeface="Source Sans 3" pitchFamily="34" charset="-122"/>
                <a:cs typeface="Source Sans 3"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D1D1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2366963"/>
            <a:ext cx="10566400" cy="1005840"/>
          </a:xfrm>
          <a:prstGeom prst="rect">
            <a:avLst/>
          </a:prstGeom>
          <a:noFill/>
          <a:ln/>
        </p:spPr>
        <p:txBody>
          <a:bodyPr wrap="square" lIns="0" tIns="0" rIns="0" bIns="0" rtlCol="0" anchor="t"/>
          <a:lstStyle>
            <a:lvl1pPr algn="l" indent="0" marL="0">
              <a:lnSpc>
                <a:spcPct val="115000"/>
              </a:lnSpc>
              <a:buNone/>
              <a:defRPr lang="en-US" sz="4800" dirty="0">
                <a:solidFill>
                  <a:srgbClr val="F5EFE4"/>
                </a:solidFill>
                <a:latin typeface="Fraunces" pitchFamily="34" charset="0"/>
                <a:ea typeface="Fraunces" pitchFamily="34" charset="-122"/>
                <a:cs typeface="Fraunces" pitchFamily="34" charset="-120"/>
              </a:defRPr>
            </a:lvl1pPr>
          </a:lstStyle>
          <a:p>
            <a:pPr algn="l" indent="0" marL="0">
              <a:lnSpc>
                <a:spcPct val="115000"/>
              </a:lnSpc>
              <a:buNone/>
            </a:pPr>
            <a:endParaRPr lang="en-US" sz="4800" dirty="0"/>
          </a:p>
        </p:txBody>
      </p:sp>
      <p:sp>
        <p:nvSpPr>
          <p:cNvPr id="3" name="Text Placeholder 2"/>
          <p:cNvSpPr/>
          <p:nvPr>
            <p:ph idx="101" type="body"/>
          </p:nvPr>
        </p:nvSpPr>
        <p:spPr>
          <a:xfrm>
            <a:off x="812800" y="3677603"/>
            <a:ext cx="10566400" cy="2367597"/>
          </a:xfrm>
          <a:prstGeom prst="rect">
            <a:avLst/>
          </a:prstGeom>
          <a:noFill/>
          <a:ln/>
        </p:spPr>
        <p:txBody>
          <a:bodyPr wrap="square" lIns="0" tIns="0" rIns="0" bIns="0" rtlCol="0" anchor="t"/>
          <a:lstStyle>
            <a:lvl1pPr algn="l" indent="0" marL="0">
              <a:lnSpc>
                <a:spcPct val="140000"/>
              </a:lnSpc>
              <a:buNone/>
              <a:defRPr lang="en-US" sz="1600" dirty="0">
                <a:solidFill>
                  <a:srgbClr val="E0A77F"/>
                </a:solidFill>
                <a:latin typeface="Source Sans 3" pitchFamily="34" charset="0"/>
                <a:ea typeface="Source Sans 3" pitchFamily="34" charset="-122"/>
                <a:cs typeface="Source Sans 3"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B16"/>
        </a:solidFill>
      </p:bgPr>
    </p:bg>
    <p:spTree>
      <p:nvGrpSpPr>
        <p:cNvPr id="1" name=""/>
        <p:cNvGrpSpPr/>
        <p:nvPr/>
      </p:nvGrpSpPr>
      <p:grpSpPr>
        <a:xfrm>
          <a:off x="0" y="0"/>
          <a:ext cx="0" cy="0"/>
          <a:chOff x="0" y="0"/>
          <a:chExt cx="0" cy="0"/>
        </a:xfrm>
      </p:grpSpPr>
      <p:pic>
        <p:nvPicPr>
          <p:cNvPr id="2" name="Image 0" descr="A folded page corner">    </p:cNvPr>
          <p:cNvPicPr>
            <a:picLocks noChangeAspect="1"/>
          </p:cNvPicPr>
          <p:nvPr/>
        </p:nvPicPr>
        <p:blipFill>
          <a:blip r:embed="rId1"/>
          <a:srcRect l="0" r="0" t="0" b="0"/>
          <a:stretch/>
        </p:blipFill>
        <p:spPr>
          <a:xfrm>
            <a:off x="10541000" y="0"/>
            <a:ext cx="1651000" cy="1651000"/>
          </a:xfrm>
          <a:prstGeom prst="rect">
            <a:avLst/>
          </a:prstGeom>
        </p:spPr>
      </p:pic>
      <p:sp>
        <p:nvSpPr>
          <p:cNvPr id="3" name="Text 0"/>
          <p:cNvSpPr/>
          <p:nvPr>
            <p:ph type="title"/>
          </p:nvPr>
        </p:nvSpPr>
        <p:spPr>
          <a:xfrm>
            <a:off x="812800" y="2646680"/>
            <a:ext cx="10203180" cy="1590040"/>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F5EFE4"/>
                </a:solidFill>
                <a:latin typeface="Fraunces" pitchFamily="18" charset="0"/>
                <a:ea typeface="Fraunces" pitchFamily="18" charset="-122"/>
                <a:cs typeface="Fraunces" pitchFamily="18" charset="-120"/>
              </a:rPr>
              <a:t>The greatest books ever written are already free.</a:t>
            </a:r>
            <a:endParaRPr lang="en-US" sz="5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FE4"/>
        </a:solidFill>
      </p:bgPr>
    </p:bg>
    <p:spTree>
      <p:nvGrpSpPr>
        <p:cNvPr id="1" name=""/>
        <p:cNvGrpSpPr/>
        <p:nvPr/>
      </p:nvGrpSpPr>
      <p:grpSpPr>
        <a:xfrm>
          <a:off x="0" y="0"/>
          <a:ext cx="0" cy="0"/>
          <a:chOff x="0" y="0"/>
          <a:chExt cx="0" cy="0"/>
        </a:xfrm>
      </p:grpSpPr>
      <p:sp>
        <p:nvSpPr>
          <p:cNvPr id="2" name="Text 0"/>
          <p:cNvSpPr/>
          <p:nvPr>
            <p:ph type="title"/>
          </p:nvPr>
        </p:nvSpPr>
        <p:spPr>
          <a:xfrm>
            <a:off x="812800" y="2564130"/>
            <a:ext cx="10883392" cy="695960"/>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1F1B16"/>
                </a:solidFill>
                <a:latin typeface="Fraunces" pitchFamily="18" charset="0"/>
                <a:ea typeface="Fraunces" pitchFamily="18" charset="-122"/>
                <a:cs typeface="Fraunces" pitchFamily="18" charset="-120"/>
              </a:rPr>
              <a:t>So why aren't we reading them?</a:t>
            </a:r>
            <a:endParaRPr lang="en-US" sz="4800" dirty="0"/>
          </a:p>
        </p:txBody>
      </p:sp>
      <p:sp>
        <p:nvSpPr>
          <p:cNvPr id="3" name="Text 1"/>
          <p:cNvSpPr/>
          <p:nvPr/>
        </p:nvSpPr>
        <p:spPr>
          <a:xfrm>
            <a:off x="812800" y="3539490"/>
            <a:ext cx="9156700" cy="77978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4A4238"/>
                </a:solidFill>
                <a:latin typeface="Source Sans 3" pitchFamily="34" charset="0"/>
                <a:ea typeface="Source Sans 3" pitchFamily="34" charset="-122"/>
                <a:cs typeface="Source Sans 3" pitchFamily="34" charset="-120"/>
              </a:rPr>
              <a:t>A phone in every hand on every train. The classics, one tap away, and untouched.</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D1D1F"/>
        </a:solidFill>
      </p:bgPr>
    </p:bg>
    <p:spTree>
      <p:nvGrpSpPr>
        <p:cNvPr id="1" name=""/>
        <p:cNvGrpSpPr/>
        <p:nvPr/>
      </p:nvGrpSpPr>
      <p:grpSpPr>
        <a:xfrm>
          <a:off x="0" y="0"/>
          <a:ext cx="0" cy="0"/>
          <a:chOff x="0" y="0"/>
          <a:chExt cx="0" cy="0"/>
        </a:xfrm>
      </p:grpSpPr>
      <p:pic>
        <p:nvPicPr>
          <p:cNvPr id="2" name="Image 0" descr="Dog-Eared Tales welcome screen with mood buttons">    </p:cNvPr>
          <p:cNvPicPr>
            <a:picLocks noChangeAspect="1"/>
          </p:cNvPicPr>
          <p:nvPr/>
        </p:nvPicPr>
        <p:blipFill>
          <a:blip r:embed="rId1"/>
          <a:srcRect l="-19" r="-19" t="0" b="0"/>
          <a:stretch/>
        </p:blipFill>
        <p:spPr>
          <a:xfrm>
            <a:off x="1333500" y="609600"/>
            <a:ext cx="9525000" cy="5029200"/>
          </a:xfrm>
          <a:prstGeom prst="rect">
            <a:avLst/>
          </a:prstGeom>
        </p:spPr>
      </p:pic>
      <p:sp>
        <p:nvSpPr>
          <p:cNvPr id="3" name="Text 0"/>
          <p:cNvSpPr/>
          <p:nvPr/>
        </p:nvSpPr>
        <p:spPr>
          <a:xfrm>
            <a:off x="2723483" y="5892800"/>
            <a:ext cx="6745033" cy="355600"/>
          </a:xfrm>
          <a:prstGeom prst="rect">
            <a:avLst/>
          </a:prstGeom>
          <a:noFill/>
          <a:ln/>
        </p:spPr>
        <p:txBody>
          <a:bodyPr wrap="square" lIns="0" tIns="0" rIns="0" bIns="0" rtlCol="0" anchor="t">
            <a:normAutofit/>
          </a:bodyPr>
          <a:lstStyle/>
          <a:p>
            <a:pPr algn="ctr" indent="0" marL="0">
              <a:lnSpc>
                <a:spcPts val="2600"/>
              </a:lnSpc>
              <a:buNone/>
            </a:pPr>
            <a:r>
              <a:rPr lang="en-US" sz="2000" b="1" dirty="0">
                <a:solidFill>
                  <a:srgbClr val="E0A77F"/>
                </a:solidFill>
                <a:latin typeface="Source Sans 3" pitchFamily="34" charset="0"/>
                <a:ea typeface="Source Sans 3" pitchFamily="34" charset="-122"/>
                <a:cs typeface="Source Sans 3" pitchFamily="34" charset="-120"/>
              </a:rPr>
              <a:t>Dog-Eared Tales: tap a mood, read before your stop.</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2F3B"/>
        </a:solidFill>
      </p:bgPr>
    </p:bg>
    <p:spTree>
      <p:nvGrpSpPr>
        <p:cNvPr id="1" name=""/>
        <p:cNvGrpSpPr/>
        <p:nvPr/>
      </p:nvGrpSpPr>
      <p:grpSpPr>
        <a:xfrm>
          <a:off x="0" y="0"/>
          <a:ext cx="0" cy="0"/>
          <a:chOff x="0" y="0"/>
          <a:chExt cx="0" cy="0"/>
        </a:xfrm>
      </p:grpSpPr>
      <p:sp>
        <p:nvSpPr>
          <p:cNvPr id="2" name="Text 0"/>
          <p:cNvSpPr/>
          <p:nvPr>
            <p:ph type="title"/>
          </p:nvPr>
        </p:nvSpPr>
        <p:spPr>
          <a:xfrm>
            <a:off x="812800" y="2417445"/>
            <a:ext cx="10203180" cy="1366520"/>
          </a:xfrm>
          <a:prstGeom prst="rect">
            <a:avLst/>
          </a:prstGeom>
          <a:noFill/>
          <a:ln/>
        </p:spPr>
        <p:txBody>
          <a:bodyPr wrap="square" lIns="0" tIns="0" rIns="0" bIns="0" rtlCol="0" anchor="t">
            <a:normAutofit/>
          </a:bodyPr>
          <a:lstStyle/>
          <a:p>
            <a:pPr algn="l" indent="0" marL="0">
              <a:lnSpc>
                <a:spcPts val="5280"/>
              </a:lnSpc>
              <a:buNone/>
            </a:pPr>
            <a:r>
              <a:rPr lang="en-US" sz="4800" b="0" i="0" dirty="0">
                <a:solidFill>
                  <a:srgbClr val="F5EFE4"/>
                </a:solidFill>
                <a:latin typeface="Fraunces" pitchFamily="18" charset="0"/>
                <a:ea typeface="Fraunces" pitchFamily="18" charset="-122"/>
                <a:cs typeface="Fraunces" pitchFamily="18" charset="-120"/>
              </a:rPr>
              <a:t>But most descriptions give away the ending.</a:t>
            </a:r>
            <a:endParaRPr lang="en-US" sz="4800" dirty="0"/>
          </a:p>
        </p:txBody>
      </p:sp>
      <p:sp>
        <p:nvSpPr>
          <p:cNvPr id="3" name="Text 1"/>
          <p:cNvSpPr/>
          <p:nvPr/>
        </p:nvSpPr>
        <p:spPr>
          <a:xfrm>
            <a:off x="812800" y="4063366"/>
            <a:ext cx="9156700" cy="40259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C9D3DA"/>
                </a:solidFill>
                <a:latin typeface="Source Sans 3" pitchFamily="34" charset="0"/>
                <a:ea typeface="Source Sans 3" pitchFamily="34" charset="-122"/>
                <a:cs typeface="Source Sans 3" pitchFamily="34" charset="-120"/>
              </a:rPr>
              <a:t>And parents can't tell what's inside.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2F3B"/>
        </a:solidFill>
      </p:bgPr>
    </p:bg>
    <p:spTree>
      <p:nvGrpSpPr>
        <p:cNvPr id="1" name=""/>
        <p:cNvGrpSpPr/>
        <p:nvPr/>
      </p:nvGrpSpPr>
      <p:grpSpPr>
        <a:xfrm>
          <a:off x="0" y="0"/>
          <a:ext cx="0" cy="0"/>
          <a:chOff x="0" y="0"/>
          <a:chExt cx="0" cy="0"/>
        </a:xfrm>
      </p:grpSpPr>
      <p:sp>
        <p:nvSpPr>
          <p:cNvPr id="2" name="Text 0"/>
          <p:cNvSpPr/>
          <p:nvPr>
            <p:ph type="title"/>
          </p:nvPr>
        </p:nvSpPr>
        <p:spPr>
          <a:xfrm>
            <a:off x="812800" y="22352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0" i="0" dirty="0">
                <a:solidFill>
                  <a:srgbClr val="F5EFE4"/>
                </a:solidFill>
                <a:latin typeface="Fraunces" pitchFamily="18" charset="0"/>
                <a:ea typeface="Fraunces" pitchFamily="18" charset="-122"/>
                <a:cs typeface="Fraunces" pitchFamily="18" charset="-120"/>
              </a:rPr>
              <a:t>Story Guide: Gemma 4 never sees the ending</a:t>
            </a:r>
            <a:endParaRPr lang="en-US" sz="4000" dirty="0"/>
          </a:p>
        </p:txBody>
      </p:sp>
      <p:sp>
        <p:nvSpPr>
          <p:cNvPr id="3" name="Text 1"/>
          <p:cNvSpPr/>
          <p:nvPr/>
        </p:nvSpPr>
        <p:spPr>
          <a:xfrm>
            <a:off x="812800" y="3395982"/>
            <a:ext cx="235458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5EFE4"/>
                </a:solidFill>
                <a:latin typeface="Source Sans 3" pitchFamily="34" charset="0"/>
                <a:ea typeface="Source Sans 3" pitchFamily="34" charset="-122"/>
                <a:cs typeface="Source Sans 3" pitchFamily="34" charset="-120"/>
              </a:rPr>
              <a:t>First third</a:t>
            </a:r>
            <a:endParaRPr lang="en-US" sz="1800" dirty="0"/>
          </a:p>
        </p:txBody>
      </p:sp>
      <p:sp>
        <p:nvSpPr>
          <p:cNvPr id="4" name="Shape 2"/>
          <p:cNvSpPr/>
          <p:nvPr/>
        </p:nvSpPr>
        <p:spPr>
          <a:xfrm>
            <a:off x="3352800" y="3302000"/>
            <a:ext cx="1625600" cy="508000"/>
          </a:xfrm>
          <a:prstGeom prst="roundRect">
            <a:avLst>
              <a:gd name="adj" fmla="val 15000"/>
            </a:avLst>
          </a:prstGeom>
          <a:solidFill>
            <a:srgbClr val="E0A77F"/>
          </a:solidFill>
          <a:ln/>
        </p:spPr>
      </p:sp>
      <p:sp>
        <p:nvSpPr>
          <p:cNvPr id="5" name="Shape 3"/>
          <p:cNvSpPr/>
          <p:nvPr/>
        </p:nvSpPr>
        <p:spPr>
          <a:xfrm>
            <a:off x="5029200" y="3302000"/>
            <a:ext cx="1625600" cy="508000"/>
          </a:xfrm>
          <a:prstGeom prst="roundRect">
            <a:avLst>
              <a:gd name="adj" fmla="val 15000"/>
            </a:avLst>
          </a:prstGeom>
          <a:solidFill>
            <a:srgbClr val="33495A"/>
          </a:solidFill>
          <a:ln/>
        </p:spPr>
      </p:sp>
      <p:sp>
        <p:nvSpPr>
          <p:cNvPr id="6" name="Shape 4"/>
          <p:cNvSpPr/>
          <p:nvPr/>
        </p:nvSpPr>
        <p:spPr>
          <a:xfrm>
            <a:off x="6705600" y="3302000"/>
            <a:ext cx="1625600" cy="508000"/>
          </a:xfrm>
          <a:prstGeom prst="roundRect">
            <a:avLst>
              <a:gd name="adj" fmla="val 15000"/>
            </a:avLst>
          </a:prstGeom>
          <a:solidFill>
            <a:srgbClr val="33495A"/>
          </a:solidFill>
          <a:ln/>
        </p:spPr>
      </p:sp>
      <p:sp>
        <p:nvSpPr>
          <p:cNvPr id="7" name="Text 5"/>
          <p:cNvSpPr/>
          <p:nvPr/>
        </p:nvSpPr>
        <p:spPr>
          <a:xfrm>
            <a:off x="8585200" y="3395982"/>
            <a:ext cx="287782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0A77F"/>
                </a:solidFill>
                <a:latin typeface="Source Sans 3" pitchFamily="34" charset="0"/>
                <a:ea typeface="Source Sans 3" pitchFamily="34" charset="-122"/>
                <a:cs typeface="Source Sans 3" pitchFamily="34" charset="-120"/>
              </a:rPr>
              <a:t>Hook and blurb</a:t>
            </a:r>
            <a:endParaRPr lang="en-US" sz="1800" dirty="0"/>
          </a:p>
        </p:txBody>
      </p:sp>
      <p:sp>
        <p:nvSpPr>
          <p:cNvPr id="8" name="Text 6"/>
          <p:cNvSpPr/>
          <p:nvPr/>
        </p:nvSpPr>
        <p:spPr>
          <a:xfrm>
            <a:off x="812800" y="4208782"/>
            <a:ext cx="235458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5EFE4"/>
                </a:solidFill>
                <a:latin typeface="Source Sans 3" pitchFamily="34" charset="0"/>
                <a:ea typeface="Source Sans 3" pitchFamily="34" charset="-122"/>
                <a:cs typeface="Source Sans 3" pitchFamily="34" charset="-120"/>
              </a:rPr>
              <a:t>Whole story</a:t>
            </a:r>
            <a:endParaRPr lang="en-US" sz="1800" dirty="0"/>
          </a:p>
        </p:txBody>
      </p:sp>
      <p:sp>
        <p:nvSpPr>
          <p:cNvPr id="9" name="Shape 7"/>
          <p:cNvSpPr/>
          <p:nvPr/>
        </p:nvSpPr>
        <p:spPr>
          <a:xfrm>
            <a:off x="3352800" y="4114800"/>
            <a:ext cx="1625600" cy="508000"/>
          </a:xfrm>
          <a:prstGeom prst="roundRect">
            <a:avLst>
              <a:gd name="adj" fmla="val 15000"/>
            </a:avLst>
          </a:prstGeom>
          <a:solidFill>
            <a:srgbClr val="9FB3C2"/>
          </a:solidFill>
          <a:ln/>
        </p:spPr>
      </p:sp>
      <p:sp>
        <p:nvSpPr>
          <p:cNvPr id="10" name="Shape 8"/>
          <p:cNvSpPr/>
          <p:nvPr/>
        </p:nvSpPr>
        <p:spPr>
          <a:xfrm>
            <a:off x="5029200" y="4114800"/>
            <a:ext cx="1625600" cy="508000"/>
          </a:xfrm>
          <a:prstGeom prst="roundRect">
            <a:avLst>
              <a:gd name="adj" fmla="val 15000"/>
            </a:avLst>
          </a:prstGeom>
          <a:solidFill>
            <a:srgbClr val="9FB3C2"/>
          </a:solidFill>
          <a:ln/>
        </p:spPr>
      </p:sp>
      <p:sp>
        <p:nvSpPr>
          <p:cNvPr id="11" name="Shape 9"/>
          <p:cNvSpPr/>
          <p:nvPr/>
        </p:nvSpPr>
        <p:spPr>
          <a:xfrm>
            <a:off x="6705600" y="4114800"/>
            <a:ext cx="1625600" cy="508000"/>
          </a:xfrm>
          <a:prstGeom prst="roundRect">
            <a:avLst>
              <a:gd name="adj" fmla="val 15000"/>
            </a:avLst>
          </a:prstGeom>
          <a:solidFill>
            <a:srgbClr val="9FB3C2"/>
          </a:solidFill>
          <a:ln/>
        </p:spPr>
      </p:sp>
      <p:sp>
        <p:nvSpPr>
          <p:cNvPr id="12" name="Text 10"/>
          <p:cNvSpPr/>
          <p:nvPr/>
        </p:nvSpPr>
        <p:spPr>
          <a:xfrm>
            <a:off x="8585200" y="4208782"/>
            <a:ext cx="287782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F5EFE4"/>
                </a:solidFill>
                <a:latin typeface="Source Sans 3" pitchFamily="34" charset="0"/>
                <a:ea typeface="Source Sans 3" pitchFamily="34" charset="-122"/>
                <a:cs typeface="Source Sans 3" pitchFamily="34" charset="-120"/>
              </a:rPr>
              <a:t>Notes and age band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D1D1F"/>
        </a:solidFill>
      </p:bgPr>
    </p:bg>
    <p:spTree>
      <p:nvGrpSpPr>
        <p:cNvPr id="1" name=""/>
        <p:cNvGrpSpPr/>
        <p:nvPr/>
      </p:nvGrpSpPr>
      <p:grpSpPr>
        <a:xfrm>
          <a:off x="0" y="0"/>
          <a:ext cx="0" cy="0"/>
          <a:chOff x="0" y="0"/>
          <a:chExt cx="0" cy="0"/>
        </a:xfrm>
      </p:grpSpPr>
      <p:pic>
        <p:nvPicPr>
          <p:cNvPr id="2" name="Image 0" descr="Gemma's results beside the curated description for The Masque of the Red Death">    </p:cNvPr>
          <p:cNvPicPr>
            <a:picLocks noChangeAspect="1"/>
          </p:cNvPicPr>
          <p:nvPr/>
        </p:nvPicPr>
        <p:blipFill>
          <a:blip r:embed="rId1"/>
          <a:srcRect l="-18518" r="-18518" t="0" b="0"/>
          <a:stretch/>
        </p:blipFill>
        <p:spPr>
          <a:xfrm>
            <a:off x="1333500" y="609600"/>
            <a:ext cx="9525000" cy="5029200"/>
          </a:xfrm>
          <a:prstGeom prst="rect">
            <a:avLst/>
          </a:prstGeom>
        </p:spPr>
      </p:pic>
      <p:sp>
        <p:nvSpPr>
          <p:cNvPr id="3" name="Text 0"/>
          <p:cNvSpPr/>
          <p:nvPr/>
        </p:nvSpPr>
        <p:spPr>
          <a:xfrm>
            <a:off x="2990382" y="5892800"/>
            <a:ext cx="6211157" cy="355600"/>
          </a:xfrm>
          <a:prstGeom prst="rect">
            <a:avLst/>
          </a:prstGeom>
          <a:noFill/>
          <a:ln/>
        </p:spPr>
        <p:txBody>
          <a:bodyPr wrap="square" lIns="0" tIns="0" rIns="0" bIns="0" rtlCol="0" anchor="t">
            <a:normAutofit/>
          </a:bodyPr>
          <a:lstStyle/>
          <a:p>
            <a:pPr algn="ctr" indent="0" marL="0">
              <a:lnSpc>
                <a:spcPts val="2600"/>
              </a:lnSpc>
              <a:buNone/>
            </a:pPr>
            <a:r>
              <a:rPr lang="en-US" sz="2000" b="1" dirty="0">
                <a:solidFill>
                  <a:srgbClr val="E0A77F"/>
                </a:solidFill>
                <a:latin typeface="Source Sans 3" pitchFamily="34" charset="0"/>
                <a:ea typeface="Source Sans 3" pitchFamily="34" charset="-122"/>
                <a:cs typeface="Source Sans 3" pitchFamily="34" charset="-120"/>
              </a:rPr>
              <a:t>A spoiler-free blurb, and notes a parent can use.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D1D1F"/>
        </a:solidFill>
      </p:bgPr>
    </p:bg>
    <p:spTree>
      <p:nvGrpSpPr>
        <p:cNvPr id="1" name=""/>
        <p:cNvGrpSpPr/>
        <p:nvPr/>
      </p:nvGrpSpPr>
      <p:grpSpPr>
        <a:xfrm>
          <a:off x="0" y="0"/>
          <a:ext cx="0" cy="0"/>
          <a:chOff x="0" y="0"/>
          <a:chExt cx="0" cy="0"/>
        </a:xfrm>
      </p:grpSpPr>
      <p:pic>
        <p:nvPicPr>
          <p:cNvPr id="2" name="Image 0" descr="Story Guide searching Project Gutenberg and Wikisource with a length filter">    </p:cNvPr>
          <p:cNvPicPr>
            <a:picLocks noChangeAspect="1"/>
          </p:cNvPicPr>
          <p:nvPr/>
        </p:nvPicPr>
        <p:blipFill>
          <a:blip r:embed="rId1"/>
          <a:srcRect l="-16446" r="-16446" t="0" b="0"/>
          <a:stretch/>
        </p:blipFill>
        <p:spPr>
          <a:xfrm>
            <a:off x="1333500" y="609600"/>
            <a:ext cx="9525000" cy="5029200"/>
          </a:xfrm>
          <a:prstGeom prst="rect">
            <a:avLst/>
          </a:prstGeom>
        </p:spPr>
      </p:pic>
      <p:sp>
        <p:nvSpPr>
          <p:cNvPr id="3" name="Text 0"/>
          <p:cNvSpPr/>
          <p:nvPr/>
        </p:nvSpPr>
        <p:spPr>
          <a:xfrm>
            <a:off x="2640997" y="5892800"/>
            <a:ext cx="6910007" cy="355600"/>
          </a:xfrm>
          <a:prstGeom prst="rect">
            <a:avLst/>
          </a:prstGeom>
          <a:noFill/>
          <a:ln/>
        </p:spPr>
        <p:txBody>
          <a:bodyPr wrap="square" lIns="0" tIns="0" rIns="0" bIns="0" rtlCol="0" anchor="t">
            <a:normAutofit/>
          </a:bodyPr>
          <a:lstStyle/>
          <a:p>
            <a:pPr algn="ctr" indent="0" marL="0">
              <a:lnSpc>
                <a:spcPts val="2600"/>
              </a:lnSpc>
              <a:buNone/>
            </a:pPr>
            <a:r>
              <a:rPr lang="en-US" sz="2000" b="1" dirty="0">
                <a:solidFill>
                  <a:srgbClr val="E0A77F"/>
                </a:solidFill>
                <a:latin typeface="Source Sans 3" pitchFamily="34" charset="0"/>
                <a:ea typeface="Source Sans 3" pitchFamily="34" charset="-122"/>
                <a:cs typeface="Source Sans 3" pitchFamily="34" charset="-120"/>
              </a:rPr>
              <a:t>Project Gutenberg and Wikisource, filtered by length.</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9C4421"/>
        </a:solidFill>
      </p:bgPr>
    </p:bg>
    <p:spTree>
      <p:nvGrpSpPr>
        <p:cNvPr id="1" name=""/>
        <p:cNvGrpSpPr/>
        <p:nvPr/>
      </p:nvGrpSpPr>
      <p:grpSpPr>
        <a:xfrm>
          <a:off x="0" y="0"/>
          <a:ext cx="0" cy="0"/>
          <a:chOff x="0" y="0"/>
          <a:chExt cx="0" cy="0"/>
        </a:xfrm>
      </p:grpSpPr>
      <p:sp>
        <p:nvSpPr>
          <p:cNvPr id="2" name="Text 0"/>
          <p:cNvSpPr/>
          <p:nvPr>
            <p:ph type="title"/>
          </p:nvPr>
        </p:nvSpPr>
        <p:spPr>
          <a:xfrm>
            <a:off x="812800" y="2316482"/>
            <a:ext cx="10883392" cy="1590040"/>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F8F1E6"/>
                </a:solidFill>
                <a:latin typeface="Fraunces" pitchFamily="18" charset="0"/>
                <a:ea typeface="Fraunces" pitchFamily="18" charset="-122"/>
                <a:cs typeface="Fraunces" pitchFamily="18" charset="-120"/>
              </a:rPr>
              <a:t>Open model. Open code. Free classics.</a:t>
            </a:r>
            <a:endParaRPr lang="en-US" sz="5600" dirty="0"/>
          </a:p>
        </p:txBody>
      </p:sp>
      <p:sp>
        <p:nvSpPr>
          <p:cNvPr id="3" name="Text 1"/>
          <p:cNvSpPr/>
          <p:nvPr/>
        </p:nvSpPr>
        <p:spPr>
          <a:xfrm>
            <a:off x="812800" y="4185921"/>
            <a:ext cx="91567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8F1E6"/>
                </a:solidFill>
                <a:latin typeface="Source Sans 3" pitchFamily="34" charset="0"/>
                <a:ea typeface="Source Sans 3" pitchFamily="34" charset="-122"/>
                <a:cs typeface="Source Sans 3" pitchFamily="34" charset="-120"/>
              </a:rPr>
              <a:t>MIT licence. Public-domain texts only. And it respects each library's terms.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1B16"/>
        </a:solidFill>
      </p:bgPr>
    </p:bg>
    <p:spTree>
      <p:nvGrpSpPr>
        <p:cNvPr id="1" name=""/>
        <p:cNvGrpSpPr/>
        <p:nvPr/>
      </p:nvGrpSpPr>
      <p:grpSpPr>
        <a:xfrm>
          <a:off x="0" y="0"/>
          <a:ext cx="0" cy="0"/>
          <a:chOff x="0" y="0"/>
          <a:chExt cx="0" cy="0"/>
        </a:xfrm>
      </p:grpSpPr>
      <p:pic>
        <p:nvPicPr>
          <p:cNvPr id="2" name="Image 0" descr="A folded page corner">    </p:cNvPr>
          <p:cNvPicPr>
            <a:picLocks noChangeAspect="1"/>
          </p:cNvPicPr>
          <p:nvPr/>
        </p:nvPicPr>
        <p:blipFill>
          <a:blip r:embed="rId1"/>
          <a:srcRect l="0" r="0" t="0" b="0"/>
          <a:stretch/>
        </p:blipFill>
        <p:spPr>
          <a:xfrm>
            <a:off x="10541000" y="0"/>
            <a:ext cx="1651000" cy="1651000"/>
          </a:xfrm>
          <a:prstGeom prst="rect">
            <a:avLst/>
          </a:prstGeom>
        </p:spPr>
      </p:pic>
      <p:sp>
        <p:nvSpPr>
          <p:cNvPr id="3" name="Text 0"/>
          <p:cNvSpPr/>
          <p:nvPr>
            <p:ph type="title"/>
          </p:nvPr>
        </p:nvSpPr>
        <p:spPr>
          <a:xfrm>
            <a:off x="812800" y="2087879"/>
            <a:ext cx="10883392" cy="1590040"/>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F5EFE4"/>
                </a:solidFill>
                <a:latin typeface="Fraunces" pitchFamily="18" charset="0"/>
                <a:ea typeface="Fraunces" pitchFamily="18" charset="-122"/>
                <a:cs typeface="Fraunces" pitchFamily="18" charset="-120"/>
              </a:rPr>
              <a:t>Dog-Eared Tales</a:t>
            </a:r>
            <a:endParaRPr lang="en-US" sz="5600" dirty="0"/>
          </a:p>
          <a:p>
            <a:pPr algn="l" indent="0" marL="0">
              <a:lnSpc>
                <a:spcPts val="6160"/>
              </a:lnSpc>
              <a:buNone/>
            </a:pPr>
            <a:r>
              <a:rPr lang="en-US" sz="5600" b="1" i="0" dirty="0">
                <a:solidFill>
                  <a:srgbClr val="E0A77F"/>
                </a:solidFill>
                <a:latin typeface="Fraunces" pitchFamily="18" charset="0"/>
                <a:ea typeface="Fraunces" pitchFamily="18" charset="-122"/>
                <a:cs typeface="Fraunces" pitchFamily="18" charset="-120"/>
              </a:rPr>
              <a:t>+ Story Guide</a:t>
            </a:r>
            <a:endParaRPr lang="en-US" sz="5600" dirty="0"/>
          </a:p>
        </p:txBody>
      </p:sp>
      <p:sp>
        <p:nvSpPr>
          <p:cNvPr id="4" name="Text 1"/>
          <p:cNvSpPr/>
          <p:nvPr/>
        </p:nvSpPr>
        <p:spPr>
          <a:xfrm>
            <a:off x="812800" y="4008121"/>
            <a:ext cx="10883392" cy="787400"/>
          </a:xfrm>
          <a:prstGeom prst="rect">
            <a:avLst/>
          </a:prstGeom>
          <a:noFill/>
          <a:ln/>
        </p:spPr>
        <p:txBody>
          <a:bodyPr wrap="square" lIns="0" tIns="0" rIns="0" bIns="0" rtlCol="0" anchor="t">
            <a:normAutofit/>
          </a:bodyPr>
          <a:lstStyle/>
          <a:p>
            <a:pPr algn="l" indent="0" marL="0">
              <a:lnSpc>
                <a:spcPts val="3000"/>
              </a:lnSpc>
              <a:buNone/>
            </a:pPr>
            <a:r>
              <a:rPr lang="en-US" sz="2000" dirty="0">
                <a:solidFill>
                  <a:srgbClr val="F5EFE4"/>
                </a:solidFill>
                <a:latin typeface="Source Sans 3" pitchFamily="34" charset="0"/>
                <a:ea typeface="Source Sans 3" pitchFamily="34" charset="-122"/>
                <a:cs typeface="Source Sans 3" pitchFamily="34" charset="-120"/>
              </a:rPr>
              <a:t>dog-eared-tales.rajivsundar.workers.dev</a:t>
            </a:r>
            <a:endParaRPr lang="en-US" sz="2000" dirty="0"/>
          </a:p>
          <a:p>
            <a:pPr algn="l" indent="0" marL="0">
              <a:lnSpc>
                <a:spcPts val="3000"/>
              </a:lnSpc>
              <a:buNone/>
            </a:pPr>
            <a:r>
              <a:rPr lang="en-US" sz="2000" dirty="0">
                <a:solidFill>
                  <a:srgbClr val="F5EFE4"/>
                </a:solidFill>
                <a:latin typeface="Source Sans 3" pitchFamily="34" charset="0"/>
                <a:ea typeface="Source Sans 3" pitchFamily="34" charset="-122"/>
                <a:cs typeface="Source Sans 3" pitchFamily="34" charset="-120"/>
              </a:rPr>
              <a:t>github.com/rajivsundar/dog-eared-tales</a:t>
            </a:r>
            <a:endParaRPr lang="en-US" sz="2000" dirty="0"/>
          </a:p>
        </p:txBody>
      </p:sp>
    </p:spTree>
  </p:cSld>
  <p:clrMapOvr>
    <a:masterClrMapping/>
  </p:clrMapOvr>
</p:sld>
</file>

<file path=ppt/theme/theme1.xml><?xml version="1.0" encoding="utf-8"?>
<a:theme xmlns:a="http://schemas.openxmlformats.org/drawingml/2006/main" name="Dog-Eared Tales + Story Guide — Demo video">
  <a:themeElements>
    <a:clrScheme name="Dog-Eared Tales + Story Guide — Demo video">
      <a:dk1>
        <a:srgbClr val="1D1D1F"/>
      </a:dk1>
      <a:lt1>
        <a:srgbClr val="E0A77F"/>
      </a:lt1>
      <a:dk2>
        <a:srgbClr val="312B29"/>
      </a:dk2>
      <a:lt2>
        <a:srgbClr val="AF8567"/>
      </a:lt2>
      <a:accent1>
        <a:srgbClr val="33495A"/>
      </a:accent1>
      <a:accent2>
        <a:srgbClr val="9C4421"/>
      </a:accent2>
      <a:accent3>
        <a:srgbClr val="F5EFE4"/>
      </a:accent3>
      <a:accent4>
        <a:srgbClr val="9FB3C2"/>
      </a:accent4>
      <a:accent5>
        <a:srgbClr val="F8F1E6"/>
      </a:accent5>
      <a:accent6>
        <a:srgbClr val="1F2F3B"/>
      </a:accent6>
      <a:hlink>
        <a:srgbClr val="0563C1"/>
      </a:hlink>
      <a:folHlink>
        <a:srgbClr val="954F72"/>
      </a:folHlink>
    </a:clrScheme>
    <a:fontScheme name="Dog-Eared Tales + Story Guide — Demo video">
      <a:majorFont>
        <a:latin typeface="Fraunce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Dog-Eared Tales + Story Guide — Demo video</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Fraunces
Copyright 2018 The Fraunces Project Authors (https://github.com/undercasetype/Fraunces)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2026-10-23T19:54:34Z</dcterms:created>
  <dcterms:modified xsi:type="dcterms:W3CDTF">2026-10-23T19:54:34Z</dcterms:modified>
</cp:coreProperties>
</file>